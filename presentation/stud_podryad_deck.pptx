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2864E8"/>
              </a:solidFill>
              <a:ln>
                <a:noFill/>
              </a:ln>
            </c:spPr>
          </c:dPt>
          <c:dPt>
            <c:idx val="1"/>
            <c:spPr>
              <a:solidFill>
                <a:srgbClr val="DCE4EF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12.3</c:v>
                </c:pt>
                <c:pt idx="1">
                  <c:v>87.7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E78A16"/>
              </a:solidFill>
              <a:ln>
                <a:noFill/>
              </a:ln>
            </c:spPr>
          </c:dPt>
          <c:dPt>
            <c:idx val="1"/>
            <c:spPr>
              <a:solidFill>
                <a:srgbClr val="DCE4EF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43.8</c:v>
                </c:pt>
                <c:pt idx="1">
                  <c:v>56.2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7840EE"/>
              </a:solidFill>
              <a:ln>
                <a:noFill/>
              </a:ln>
            </c:spPr>
          </c:dPt>
          <c:dPt>
            <c:idx val="1"/>
            <c:spPr>
              <a:solidFill>
                <a:srgbClr val="DCE4EF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43.5</c:v>
                </c:pt>
                <c:pt idx="1">
                  <c:v>56.5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18B8D8"/>
              </a:solidFill>
              <a:ln>
                <a:noFill/>
              </a:ln>
            </c:spPr>
          </c:dPt>
          <c:dPt>
            <c:idx val="1"/>
            <c:spPr>
              <a:solidFill>
                <a:srgbClr val="DCE4EF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31.4</c:v>
                </c:pt>
                <c:pt idx="1">
                  <c:v>68.6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69748" y="182880"/>
            <a:ext cx="840740" cy="329184"/>
          </a:xfrm>
          <a:prstGeom prst="roundRect">
            <a:avLst>
              <a:gd name="adj" fmla="val 35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61188" y="475488"/>
            <a:ext cx="657860" cy="41148"/>
          </a:xfrm>
          <a:prstGeom prst="roundRect">
            <a:avLst>
              <a:gd name="adj" fmla="val 50000"/>
            </a:avLst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16052" y="237744"/>
            <a:ext cx="5481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864E8"/>
                </a:solidFill>
                <a:latin typeface="Arial"/>
              </a:rPr>
              <a:t>ЛОГИКА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6208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65544" y="237744"/>
            <a:ext cx="13364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РЕЗУЛЬТАТИВНОСТЬ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7731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57068" y="237744"/>
            <a:ext cx="3790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ИДЕЯ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81837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1174" y="237744"/>
            <a:ext cx="20031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НОВИЗНА + ОБОСНОВАННОСТЬ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9998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9335" y="237744"/>
            <a:ext cx="107261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ЛИЧНЫЙ ВКЛАД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713232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526984"/>
                </a:solidFill>
                <a:latin typeface="Arial"/>
              </a:rPr>
              <a:t>ТВОЙ ХОД · ТРЕК «ДЕЛАЮ»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969264"/>
            <a:ext cx="6035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800" b="1" i="0">
                <a:solidFill>
                  <a:srgbClr val="0C1628"/>
                </a:solidFill>
                <a:latin typeface="Arial"/>
              </a:rPr>
              <a:t>СТУДЕНЧЕСКИЙ</a:t>
            </a:r>
          </a:p>
          <a:p>
            <a:pPr algn="l"/>
            <a:r>
              <a:rPr sz="3800" b="1" i="0">
                <a:solidFill>
                  <a:srgbClr val="2864E8"/>
                </a:solidFill>
                <a:latin typeface="Arial"/>
              </a:rPr>
              <a:t>ПОДРЯД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212848"/>
            <a:ext cx="5852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0" i="0">
                <a:solidFill>
                  <a:srgbClr val="526984"/>
                </a:solidFill>
                <a:latin typeface="Arial"/>
              </a:rPr>
              <a:t>Межвузовская экосистема</a:t>
            </a:r>
          </a:p>
          <a:p>
            <a:pPr algn="l"/>
            <a:r>
              <a:rPr sz="1500" b="0" i="0">
                <a:solidFill>
                  <a:srgbClr val="526984"/>
                </a:solidFill>
                <a:latin typeface="Arial"/>
              </a:rPr>
              <a:t>первого профессионального опыта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035808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035808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ЦЕЛЕВАЯ АУДИТОРИЯ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3814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C1628"/>
                </a:solidFill>
                <a:latin typeface="Arial"/>
              </a:rPr>
              <a:t>СТУДЕНТЫ 1–3 КУРСОВ · IT · ДИЗАЙН · МЕДИА ↔ УЧРЕЖДЕНИЯ КУЛЬТУРЫ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40480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C1628"/>
                </a:solidFill>
                <a:latin typeface="Arial"/>
              </a:rPr>
              <a:t>Учреждению — цифровое решение.</a:t>
            </a:r>
          </a:p>
          <a:p>
            <a:pPr algn="l"/>
            <a:r>
              <a:rPr sz="1400" b="1" i="0">
                <a:solidFill>
                  <a:srgbClr val="2864E8"/>
                </a:solidFill>
                <a:latin typeface="Arial"/>
              </a:rPr>
              <a:t>Студенту — первый реальный внешний кейс.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1772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864E8"/>
                </a:solidFill>
                <a:latin typeface="Arial"/>
              </a:rPr>
              <a:t>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32180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37089"/>
                </a:solidFill>
                <a:latin typeface="Arial"/>
              </a:rPr>
              <a:t>участника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96312" y="4709160"/>
            <a:ext cx="0" cy="914400"/>
          </a:xfrm>
          <a:prstGeom prst="line">
            <a:avLst/>
          </a:prstGeom>
          <a:ln w="1270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697480" y="461772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0A77A"/>
                </a:solidFill>
                <a:latin typeface="Arial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532180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37089"/>
                </a:solidFill>
                <a:latin typeface="Arial"/>
              </a:rPr>
              <a:t>задач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416552" y="4709160"/>
            <a:ext cx="0" cy="914400"/>
          </a:xfrm>
          <a:prstGeom prst="line">
            <a:avLst/>
          </a:prstGeom>
          <a:ln w="1270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617720" y="461772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7840EE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32180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37089"/>
                </a:solidFill>
                <a:latin typeface="Arial"/>
              </a:rPr>
              <a:t>учреждения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65836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637089"/>
                </a:solidFill>
                <a:latin typeface="Arial"/>
              </a:rPr>
              <a:t>ГЛАВНАЯ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621792"/>
            <a:ext cx="1600200" cy="274320"/>
          </a:xfrm>
          <a:prstGeom prst="roundRect">
            <a:avLst>
              <a:gd name="adj" fmla="val 40000"/>
            </a:avLst>
          </a:prstGeom>
          <a:solidFill>
            <a:srgbClr val="E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12680" y="62179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10A77A"/>
                </a:solidFill>
                <a:latin typeface="Arial"/>
              </a:rPr>
              <a:t>ДЕЙСТВУЮЩИЙ ПРОДУКТ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89611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526984"/>
                </a:solidFill>
                <a:latin typeface="Arial"/>
              </a:rPr>
              <a:t>запрос учреждения → микро-задача → реальный результат</a:t>
            </a:r>
          </a:p>
        </p:txBody>
      </p:sp>
      <p:pic>
        <p:nvPicPr>
          <p:cNvPr id="32" name="Picture 31" descr="ui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133856"/>
            <a:ext cx="4023360" cy="307414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12280" y="422452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637089"/>
                </a:solidFill>
                <a:latin typeface="Arial"/>
              </a:rPr>
              <a:t>КАТАЛОГ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422452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637089"/>
                </a:solidFill>
                <a:latin typeface="Arial"/>
              </a:rPr>
              <a:t>КАРТОЧКА ЗАДАЧИ</a:t>
            </a:r>
          </a:p>
        </p:txBody>
      </p:sp>
      <p:pic>
        <p:nvPicPr>
          <p:cNvPr id="35" name="Picture 34" descr="ui_cat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443984"/>
            <a:ext cx="2286000" cy="972403"/>
          </a:xfrm>
          <a:prstGeom prst="rect">
            <a:avLst/>
          </a:prstGeom>
        </p:spPr>
      </p:pic>
      <p:pic>
        <p:nvPicPr>
          <p:cNvPr id="36" name="Picture 35" descr="ui_t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4443984"/>
            <a:ext cx="2286000" cy="866027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6766560" y="5541264"/>
            <a:ext cx="969264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qr_port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2" y="5568696"/>
            <a:ext cx="914400" cy="9144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882127" y="56692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0C1628"/>
                </a:solidFill>
                <a:latin typeface="Arial"/>
              </a:rPr>
              <a:t>Открыть портал</a:t>
            </a:r>
          </a:p>
          <a:p>
            <a:pPr algn="l"/>
            <a:r>
              <a:rPr sz="1100" b="1" i="0">
                <a:solidFill>
                  <a:srgbClr val="2864E8"/>
                </a:solidFill>
                <a:latin typeface="Arial"/>
              </a:rPr>
              <a:t>студ-подряд.рф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5196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37089"/>
                </a:solidFill>
                <a:latin typeface="Arial"/>
              </a:rPr>
              <a:t>Иван Ершов · ID 2234178 · трек «Делаю»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92240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637089"/>
                </a:solidFill>
                <a:latin typeface="Arial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69748" y="182880"/>
            <a:ext cx="840740" cy="329184"/>
          </a:xfrm>
          <a:prstGeom prst="roundRect">
            <a:avLst>
              <a:gd name="adj" fmla="val 35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61188" y="475488"/>
            <a:ext cx="657860" cy="41148"/>
          </a:xfrm>
          <a:prstGeom prst="roundRect">
            <a:avLst>
              <a:gd name="adj" fmla="val 50000"/>
            </a:avLst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16052" y="237744"/>
            <a:ext cx="5481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864E8"/>
                </a:solidFill>
                <a:latin typeface="Arial"/>
              </a:rPr>
              <a:t>ЛОГИКА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6208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65544" y="237744"/>
            <a:ext cx="13364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РЕЗУЛЬТАТИВНОСТЬ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7731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57068" y="237744"/>
            <a:ext cx="3790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ИДЕЯ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81837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1174" y="237744"/>
            <a:ext cx="20031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НОВИЗНА + ОБОСНОВАННОСТЬ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9998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9335" y="237744"/>
            <a:ext cx="107261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ЛИЧНЫЙ ВКЛАД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6692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C1628"/>
                </a:solidFill>
                <a:latin typeface="Arial"/>
              </a:rPr>
              <a:t>Проблема не придумана. Она измерена.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188720"/>
            <a:ext cx="6675120" cy="4846320"/>
          </a:xfrm>
          <a:prstGeom prst="roundRect">
            <a:avLst>
              <a:gd name="adj" fmla="val 3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37160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864E8"/>
                </a:solidFill>
                <a:latin typeface="Arial"/>
              </a:rPr>
              <a:t>1 262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481328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0C1628"/>
                </a:solidFill>
                <a:latin typeface="Arial"/>
              </a:rPr>
              <a:t>анкеты · совместное исследование</a:t>
            </a:r>
          </a:p>
          <a:p>
            <a:pPr algn="l"/>
            <a:r>
              <a:rPr sz="1050" b="0" i="0">
                <a:solidFill>
                  <a:srgbClr val="526984"/>
                </a:solidFill>
                <a:latin typeface="Arial"/>
              </a:rPr>
              <a:t>с Экспертным центром «Твой Ход»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2286000"/>
            <a:ext cx="61264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23774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2864E8"/>
                </a:solidFill>
                <a:latin typeface="Arial"/>
              </a:rPr>
              <a:t>ФОКУСНЫЙ СРЕЗ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60604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C1628"/>
                </a:solidFill>
                <a:latin typeface="Arial"/>
              </a:rPr>
              <a:t>649 студентов 1–3 курсов вузов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907792"/>
            <a:ext cx="5669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37089"/>
                </a:solidFill>
                <a:latin typeface="Arial"/>
              </a:rPr>
              <a:t>ключевой курсовой сегмент целевой аудитории проекта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1005840" y="3429000"/>
          <a:ext cx="960120" cy="960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005840" y="3721608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864E8"/>
                </a:solidFill>
                <a:latin typeface="Arial"/>
              </a:rPr>
              <a:t>12,3%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538728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26984"/>
                </a:solidFill>
                <a:latin typeface="Arial"/>
              </a:rPr>
              <a:t>имеют реальный проект внешнего заказчика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4160520" y="3429000"/>
          <a:ext cx="960120" cy="960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160520" y="3721608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E78A16"/>
                </a:solidFill>
                <a:latin typeface="Arial"/>
              </a:rPr>
              <a:t>43,8%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3538728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26984"/>
                </a:solidFill>
                <a:latin typeface="Arial"/>
              </a:rPr>
              <a:t>не знают, где искать первую реальную задачу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1005840" y="4709160"/>
          <a:ext cx="960120" cy="960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005840" y="5001768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7840EE"/>
                </a:solidFill>
                <a:latin typeface="Arial"/>
              </a:rPr>
              <a:t>43,5%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4818888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26984"/>
                </a:solidFill>
                <a:latin typeface="Arial"/>
              </a:rPr>
              <a:t>не уверены, что практических навыков достаточно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4160520" y="4709160"/>
          <a:ext cx="960120" cy="9601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4160520" y="5001768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8B8D8"/>
                </a:solidFill>
                <a:latin typeface="Arial"/>
              </a:rPr>
              <a:t>31,4%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4818888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26984"/>
                </a:solidFill>
                <a:latin typeface="Arial"/>
              </a:rPr>
              <a:t>сложно совмещать длительные форматы практики с учёбой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1188720"/>
            <a:ext cx="393192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818120" y="1417320"/>
            <a:ext cx="384048" cy="384048"/>
          </a:xfrm>
          <a:prstGeom prst="ellipse">
            <a:avLst/>
          </a:prstGeom>
          <a:solidFill>
            <a:srgbClr val="10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18120" y="14173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138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0A77A"/>
                </a:solidFill>
                <a:latin typeface="Arial"/>
              </a:rPr>
              <a:t>1 464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19202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C1628"/>
                </a:solidFill>
                <a:latin typeface="Arial"/>
              </a:rPr>
              <a:t>респондента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221284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526984"/>
                </a:solidFill>
                <a:latin typeface="Arial"/>
              </a:rPr>
              <a:t>Второе исследование</a:t>
            </a:r>
          </a:p>
          <a:p>
            <a:pPr algn="l"/>
            <a:r>
              <a:rPr sz="950" b="0" i="0">
                <a:solidFill>
                  <a:srgbClr val="526984"/>
                </a:solidFill>
                <a:latin typeface="Arial"/>
              </a:rPr>
              <a:t>Экспертного центра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63840" y="2926080"/>
            <a:ext cx="3383280" cy="310896"/>
          </a:xfrm>
          <a:prstGeom prst="roundRect">
            <a:avLst>
              <a:gd name="adj" fmla="val 40000"/>
            </a:avLst>
          </a:prstGeom>
          <a:solidFill>
            <a:srgbClr val="F0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2926080"/>
            <a:ext cx="3383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7840EE"/>
                </a:solidFill>
                <a:latin typeface="Arial"/>
              </a:rPr>
              <a:t>ПРЕДСТАВЛЕНЫ 8 ФЕДЕРАЛЬНЫХ ОКРУГОВ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863840" y="3520440"/>
            <a:ext cx="3383280" cy="0"/>
          </a:xfrm>
          <a:prstGeom prst="line">
            <a:avLst/>
          </a:prstGeom>
          <a:ln w="1270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863840" y="37033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C1628"/>
                </a:solidFill>
                <a:latin typeface="Arial"/>
              </a:rPr>
              <a:t>2 исследования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4069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864E8"/>
                </a:solidFill>
                <a:latin typeface="Arial"/>
              </a:rPr>
              <a:t>2 726 анкет*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44348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37089"/>
                </a:solidFill>
                <a:latin typeface="Arial"/>
              </a:rPr>
              <a:t>*две отдельные выборки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5196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37089"/>
                </a:solidFill>
                <a:latin typeface="Arial"/>
              </a:rPr>
              <a:t>Источник: Совместное исследование с Экспертным центром «Твой Ход»; второе исследование n=1 464.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92240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637089"/>
                </a:solidFill>
                <a:latin typeface="Arial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69748" y="182880"/>
            <a:ext cx="840740" cy="329184"/>
          </a:xfrm>
          <a:prstGeom prst="roundRect">
            <a:avLst>
              <a:gd name="adj" fmla="val 35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61188" y="475488"/>
            <a:ext cx="657860" cy="41148"/>
          </a:xfrm>
          <a:prstGeom prst="roundRect">
            <a:avLst>
              <a:gd name="adj" fmla="val 50000"/>
            </a:avLst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16052" y="237744"/>
            <a:ext cx="5481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864E8"/>
                </a:solidFill>
                <a:latin typeface="Arial"/>
              </a:rPr>
              <a:t>ЛОГИКА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6208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65544" y="237744"/>
            <a:ext cx="13364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РЕЗУЛЬТАТИВНОСТЬ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7731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57068" y="237744"/>
            <a:ext cx="3790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ИДЕЯ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81837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1174" y="237744"/>
            <a:ext cx="20031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НОВИЗНА + ОБОСНОВАННОСТЬ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9998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9335" y="237744"/>
            <a:ext cx="107261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ЛИЧНЫЙ ВКЛАД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6692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C1628"/>
                </a:solidFill>
                <a:latin typeface="Arial"/>
              </a:rPr>
              <a:t>Всё от запроса до кейса внутри одной экосистемы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9326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26984"/>
                </a:solidFill>
                <a:latin typeface="Arial"/>
              </a:rPr>
              <a:t>Платформа снижает входной барьер и ведёт обе стороны через полный рабочий цикл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1234440"/>
            <a:ext cx="585216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ui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298448"/>
            <a:ext cx="5532120" cy="4226955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48640" y="1234440"/>
            <a:ext cx="269748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6656" y="1362456"/>
            <a:ext cx="274320" cy="274320"/>
          </a:xfrm>
          <a:prstGeom prst="ellipse">
            <a:avLst/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13624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1380744"/>
            <a:ext cx="2093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C1628"/>
                </a:solidFill>
                <a:latin typeface="Arial"/>
              </a:rPr>
              <a:t>ЗАПРОС УЧРЕЖДЕНИЯ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1709928"/>
            <a:ext cx="2441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526984"/>
                </a:solidFill>
                <a:latin typeface="Arial"/>
              </a:rPr>
              <a:t>учреждение описывает потребность обычными словами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724912"/>
            <a:ext cx="269748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6656" y="2852928"/>
            <a:ext cx="274320" cy="274320"/>
          </a:xfrm>
          <a:prstGeom prst="ellipse">
            <a:avLst/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28529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2871216"/>
            <a:ext cx="2093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C1628"/>
                </a:solidFill>
                <a:latin typeface="Arial"/>
              </a:rPr>
              <a:t>ИИ + МОДЕРАЦИЯ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3200400"/>
            <a:ext cx="2441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526984"/>
                </a:solidFill>
                <a:latin typeface="Arial"/>
              </a:rPr>
              <a:t>запрос превращается в понятную задачу или набор микро-задач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" y="3840480"/>
            <a:ext cx="2441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1">
                <a:solidFill>
                  <a:srgbClr val="637089"/>
                </a:solidFill>
                <a:latin typeface="Arial"/>
              </a:rPr>
              <a:t>базовый путь работает и без ИИ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215384"/>
            <a:ext cx="269748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76656" y="4343400"/>
            <a:ext cx="274320" cy="274320"/>
          </a:xfrm>
          <a:prstGeom prst="ellipse">
            <a:avLst/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4343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4361688"/>
            <a:ext cx="2093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C1628"/>
                </a:solidFill>
                <a:latin typeface="Arial"/>
              </a:rPr>
              <a:t>КАРТОЧКА ЗАДАЧИ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" y="4690872"/>
            <a:ext cx="2441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526984"/>
                </a:solidFill>
                <a:latin typeface="Arial"/>
              </a:rPr>
              <a:t>результат · срок · сложность · баллы · материалы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06840" y="1234440"/>
            <a:ext cx="269748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134856" y="1362456"/>
            <a:ext cx="274320" cy="274320"/>
          </a:xfrm>
          <a:prstGeom prst="ellipse">
            <a:avLst/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34856" y="13624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2328" y="1380744"/>
            <a:ext cx="2093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C1628"/>
                </a:solidFill>
                <a:latin typeface="Arial"/>
              </a:rPr>
              <a:t>ОДИН ИЛИ В КОМАНДЕ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4856" y="1709928"/>
            <a:ext cx="2441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526984"/>
                </a:solidFill>
                <a:latin typeface="Arial"/>
              </a:rPr>
              <a:t>можно выполнить самостоятельно или найти сокомандников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06840" y="2724912"/>
            <a:ext cx="269748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134856" y="2852928"/>
            <a:ext cx="274320" cy="274320"/>
          </a:xfrm>
          <a:prstGeom prst="ellipse">
            <a:avLst/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34856" y="28529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82328" y="2871216"/>
            <a:ext cx="2093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C1628"/>
                </a:solidFill>
                <a:latin typeface="Arial"/>
              </a:rPr>
              <a:t>ПРОВЕРКА И ДОРАБОТКА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34856" y="3200400"/>
            <a:ext cx="2441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526984"/>
                </a:solidFill>
                <a:latin typeface="Arial"/>
              </a:rPr>
              <a:t>сдача → обратная связь → корректировка результата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6840" y="4215384"/>
            <a:ext cx="269748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134856" y="4343400"/>
            <a:ext cx="274320" cy="274320"/>
          </a:xfrm>
          <a:prstGeom prst="ellipse">
            <a:avLst/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34856" y="4343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2328" y="4361688"/>
            <a:ext cx="2093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C1628"/>
                </a:solidFill>
                <a:latin typeface="Arial"/>
              </a:rPr>
              <a:t>КЕЙС + БАЛЛЫ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34856" y="4690872"/>
            <a:ext cx="2441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526984"/>
                </a:solidFill>
                <a:latin typeface="Arial"/>
              </a:rPr>
              <a:t>принятый результат фиксируется в истории участника на платформе и может использоваться в портфолио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2560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864E8"/>
                </a:solidFill>
                <a:latin typeface="Arial"/>
              </a:rPr>
              <a:t>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04120" y="2560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864E8"/>
                </a:solidFill>
                <a:latin typeface="Arial"/>
              </a:rPr>
              <a:t>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00200" y="405079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864E8"/>
                </a:solidFill>
                <a:latin typeface="Arial"/>
              </a:rPr>
              <a:t>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04120" y="405079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864E8"/>
                </a:solidFill>
                <a:latin typeface="Arial"/>
              </a:rPr>
              <a:t>↓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920240" y="5614416"/>
            <a:ext cx="0" cy="146304"/>
          </a:xfrm>
          <a:prstGeom prst="line">
            <a:avLst/>
          </a:prstGeom>
          <a:ln w="15240">
            <a:solidFill>
              <a:srgbClr val="286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920240" y="5760720"/>
            <a:ext cx="8412480" cy="0"/>
          </a:xfrm>
          <a:prstGeom prst="line">
            <a:avLst/>
          </a:prstGeom>
          <a:ln w="15240">
            <a:solidFill>
              <a:srgbClr val="2864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332720" y="5614416"/>
            <a:ext cx="0" cy="146304"/>
          </a:xfrm>
          <a:prstGeom prst="line">
            <a:avLst/>
          </a:prstGeom>
          <a:ln w="15240">
            <a:solidFill>
              <a:srgbClr val="286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104120" y="5440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864E8"/>
                </a:solidFill>
                <a:latin typeface="Arial"/>
              </a:rPr>
              <a:t>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587044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864E8"/>
                </a:solidFill>
                <a:latin typeface="Arial"/>
              </a:rPr>
              <a:t>60,1%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6163056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526984"/>
                </a:solidFill>
                <a:latin typeface="Arial"/>
              </a:rPr>
              <a:t>нужен чёткий результат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67128" y="587044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7840EE"/>
                </a:solidFill>
                <a:latin typeface="Arial"/>
              </a:rPr>
              <a:t>51,3%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67128" y="6163056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526984"/>
                </a:solidFill>
                <a:latin typeface="Arial"/>
              </a:rPr>
              <a:t>понятный срок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48456" y="587044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8B8D8"/>
                </a:solidFill>
                <a:latin typeface="Arial"/>
              </a:rPr>
              <a:t>47,1%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48456" y="6163056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526984"/>
                </a:solidFill>
                <a:latin typeface="Arial"/>
              </a:rPr>
              <a:t>примеры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29784" y="587044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A77A"/>
                </a:solidFill>
                <a:latin typeface="Arial"/>
              </a:rPr>
              <a:t>88,9%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29784" y="6163056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526984"/>
                </a:solidFill>
                <a:latin typeface="Arial"/>
              </a:rPr>
              <a:t>готовы рассмотреть такой формат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720840" y="5833872"/>
            <a:ext cx="4800600" cy="658368"/>
          </a:xfrm>
          <a:prstGeom prst="roundRect">
            <a:avLst>
              <a:gd name="adj" fmla="val 5000"/>
            </a:avLst>
          </a:prstGeom>
          <a:solidFill>
            <a:srgbClr val="E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0" y="587959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0A77A"/>
                </a:solidFill>
                <a:latin typeface="Arial"/>
              </a:rPr>
              <a:t>ПРАКТИКО-ОРИЕНТИРОВАННОЕ ВОВЛЕЧЕНИЕ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0" y="6080760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526984"/>
                </a:solidFill>
                <a:latin typeface="Arial"/>
              </a:rPr>
              <a:t>Не заменяет практику вуза. Даёт добровольный опыт работы с реальным внешним заказчиком.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46920" y="60350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630" b="0" i="0">
                <a:solidFill>
                  <a:srgbClr val="637089"/>
                </a:solidFill>
                <a:latin typeface="Arial"/>
              </a:rPr>
              <a:t>вуз — программа и документы практики</a:t>
            </a:r>
          </a:p>
          <a:p>
            <a:pPr algn="l"/>
            <a:r>
              <a:rPr sz="630" b="0" i="0">
                <a:solidFill>
                  <a:srgbClr val="637089"/>
                </a:solidFill>
                <a:latin typeface="Arial"/>
              </a:rPr>
              <a:t>проект — внешняя задача, результат и кейс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65196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37089"/>
                </a:solidFill>
                <a:latin typeface="Arial"/>
              </a:rPr>
              <a:t>Источник: Совместное исследование с Экспертным центром «Твой Ход»; Дорожная карта проекта.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0" y="6492240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637089"/>
                </a:solidFill>
                <a:latin typeface="Arial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69748" y="237744"/>
            <a:ext cx="5481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ЛОГИКА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63600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72936" y="182880"/>
            <a:ext cx="1629074" cy="329184"/>
          </a:xfrm>
          <a:prstGeom prst="roundRect">
            <a:avLst>
              <a:gd name="adj" fmla="val 35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64376" y="475488"/>
            <a:ext cx="1446194" cy="41148"/>
          </a:xfrm>
          <a:prstGeom prst="roundRect">
            <a:avLst>
              <a:gd name="adj" fmla="val 50000"/>
            </a:avLst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19240" y="237744"/>
            <a:ext cx="13364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864E8"/>
                </a:solidFill>
                <a:latin typeface="Arial"/>
              </a:rPr>
              <a:t>РЕЗУЛЬТАТИВНОСТЬ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7731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57068" y="237744"/>
            <a:ext cx="3790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ИДЕЯ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81837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1174" y="237744"/>
            <a:ext cx="20031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НОВИЗНА + ОБОСНОВАННОСТЬ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9998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9335" y="237744"/>
            <a:ext cx="107261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ЛИЧНЫЙ ВКЛАД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6692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C1628"/>
                </a:solidFill>
                <a:latin typeface="Arial"/>
              </a:rPr>
              <a:t>Результат, который можно проверить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9418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864E8"/>
                </a:solidFill>
                <a:latin typeface="Arial"/>
              </a:rPr>
              <a:t>ПЛАН → ФАКТ → ЭФФЕКТ → ПОДТВЕРЖДЕНИЕ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1325880"/>
            <a:ext cx="2079345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1325880"/>
            <a:ext cx="2079345" cy="54864"/>
          </a:xfrm>
          <a:prstGeom prst="roundRect">
            <a:avLst>
              <a:gd name="adj" fmla="val 30000"/>
            </a:avLst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1463040"/>
            <a:ext cx="182331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864E8"/>
                </a:solidFill>
                <a:latin typeface="Arial"/>
              </a:rPr>
              <a:t>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1993392"/>
            <a:ext cx="18233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0" i="0">
                <a:solidFill>
                  <a:srgbClr val="526984"/>
                </a:solidFill>
                <a:latin typeface="Arial"/>
              </a:rPr>
              <a:t>участника зарегистрировано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" y="2697480"/>
            <a:ext cx="18233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1">
                <a:solidFill>
                  <a:srgbClr val="637089"/>
                </a:solidFill>
                <a:latin typeface="Arial"/>
              </a:rPr>
              <a:t>ПЛАН ≥50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74873" y="1325880"/>
            <a:ext cx="2079345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74873" y="1325880"/>
            <a:ext cx="2079345" cy="54864"/>
          </a:xfrm>
          <a:prstGeom prst="roundRect">
            <a:avLst>
              <a:gd name="adj" fmla="val 30000"/>
            </a:avLst>
          </a:prstGeom>
          <a:solidFill>
            <a:srgbClr val="784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02889" y="1463040"/>
            <a:ext cx="182331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7840EE"/>
                </a:solidFill>
                <a:latin typeface="Arial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02889" y="1993392"/>
            <a:ext cx="18233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0" i="0">
                <a:solidFill>
                  <a:srgbClr val="526984"/>
                </a:solidFill>
                <a:latin typeface="Arial"/>
              </a:rPr>
              <a:t>участников в активных ролях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02889" y="2697480"/>
            <a:ext cx="18233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1">
                <a:solidFill>
                  <a:srgbClr val="637089"/>
                </a:solidFill>
                <a:latin typeface="Arial"/>
              </a:rPr>
              <a:t>20 из 64 = 31,25%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63947" y="1325880"/>
            <a:ext cx="2079345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63947" y="1325880"/>
            <a:ext cx="2079345" cy="54864"/>
          </a:xfrm>
          <a:prstGeom prst="roundRect">
            <a:avLst>
              <a:gd name="adj" fmla="val 30000"/>
            </a:avLst>
          </a:prstGeom>
          <a:solidFill>
            <a:srgbClr val="10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91963" y="1463040"/>
            <a:ext cx="182331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0A77A"/>
                </a:solidFill>
                <a:latin typeface="Arial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1963" y="1993392"/>
            <a:ext cx="18233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0" i="0">
                <a:solidFill>
                  <a:srgbClr val="526984"/>
                </a:solidFill>
                <a:latin typeface="Arial"/>
              </a:rPr>
              <a:t>завершённых микро-задач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53020" y="1325880"/>
            <a:ext cx="2079345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253020" y="1325880"/>
            <a:ext cx="2079345" cy="54864"/>
          </a:xfrm>
          <a:prstGeom prst="roundRect">
            <a:avLst>
              <a:gd name="adj" fmla="val 30000"/>
            </a:avLst>
          </a:prstGeom>
          <a:solidFill>
            <a:srgbClr val="E78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1036" y="1463040"/>
            <a:ext cx="182331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E78A16"/>
                </a:solidFill>
                <a:latin typeface="Arial"/>
              </a:rPr>
              <a:t>3 из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1036" y="1993392"/>
            <a:ext cx="18233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0" i="0">
                <a:solidFill>
                  <a:srgbClr val="526984"/>
                </a:solidFill>
                <a:latin typeface="Arial"/>
              </a:rPr>
              <a:t>учреждений подтвердили практическую применимость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42094" y="1325880"/>
            <a:ext cx="2079345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442094" y="1325880"/>
            <a:ext cx="2079345" cy="54864"/>
          </a:xfrm>
          <a:prstGeom prst="roundRect">
            <a:avLst>
              <a:gd name="adj" fmla="val 30000"/>
            </a:avLst>
          </a:prstGeom>
          <a:solidFill>
            <a:srgbClr val="18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70110" y="1463040"/>
            <a:ext cx="182331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8B8D8"/>
                </a:solidFill>
                <a:latin typeface="Arial"/>
              </a:rPr>
              <a:t>85,7%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70110" y="1993392"/>
            <a:ext cx="18233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0" i="0">
                <a:solidFill>
                  <a:srgbClr val="526984"/>
                </a:solidFill>
                <a:latin typeface="Arial"/>
              </a:rPr>
              <a:t>участников очных сессий лучше понимают путь к первому кейсу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70110" y="2697480"/>
            <a:ext cx="18233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1">
                <a:solidFill>
                  <a:srgbClr val="637089"/>
                </a:solidFill>
                <a:latin typeface="Arial"/>
              </a:rPr>
              <a:t>12 из 14 уникальных участников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3246120"/>
            <a:ext cx="10835640" cy="329184"/>
          </a:xfrm>
          <a:prstGeom prst="roundRect">
            <a:avLst>
              <a:gd name="adj" fmla="val 3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246120"/>
            <a:ext cx="10835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864E8"/>
                </a:solidFill>
                <a:latin typeface="Arial"/>
              </a:rPr>
              <a:t>3 из 3 запланированных проектных сессий проведены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3794760"/>
            <a:ext cx="2606040" cy="1234440"/>
          </a:xfrm>
          <a:prstGeom prst="roundRect">
            <a:avLst>
              <a:gd name="adj" fmla="val 5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3886200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526984"/>
                </a:solidFill>
                <a:latin typeface="Arial"/>
              </a:rPr>
              <a:t>ПЛАН ≥10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4133087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C1628"/>
                </a:solidFill>
                <a:latin typeface="Arial"/>
              </a:rPr>
              <a:t>05.08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45262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26984"/>
                </a:solidFill>
                <a:latin typeface="Arial"/>
              </a:rPr>
              <a:t>10 задач выполнены / переданы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64992" y="42062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864E8"/>
                </a:solidFill>
                <a:latin typeface="Arial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49039" y="3794760"/>
            <a:ext cx="2606040" cy="1234440"/>
          </a:xfrm>
          <a:prstGeom prst="roundRect">
            <a:avLst>
              <a:gd name="adj" fmla="val 5000"/>
            </a:avLst>
          </a:prstGeom>
          <a:solidFill>
            <a:srgbClr val="E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86200" y="388620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0A77A"/>
                </a:solidFill>
                <a:latin typeface="Arial"/>
              </a:rPr>
              <a:t>СЕЙЧАС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86200" y="4133087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0A77A"/>
                </a:solidFill>
                <a:latin typeface="Arial"/>
              </a:rPr>
              <a:t>12 из 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86200" y="45262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26984"/>
                </a:solidFill>
                <a:latin typeface="Arial"/>
              </a:rPr>
              <a:t>завершены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5193792"/>
            <a:ext cx="1783080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5193792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526984"/>
                </a:solidFill>
                <a:latin typeface="Arial"/>
              </a:rPr>
              <a:t>Шаранга · 4 задачи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578608" y="5193792"/>
            <a:ext cx="1783080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78608" y="5193792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526984"/>
                </a:solidFill>
                <a:latin typeface="Arial"/>
              </a:rPr>
              <a:t>Кстово · 4 задачи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71416" y="5193792"/>
            <a:ext cx="1783080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71416" y="5193792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526984"/>
                </a:solidFill>
                <a:latin typeface="Arial"/>
              </a:rPr>
              <a:t>Арзамас · 4 задачи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5650992"/>
            <a:ext cx="5669280" cy="713232"/>
          </a:xfrm>
          <a:prstGeom prst="roundRect">
            <a:avLst>
              <a:gd name="adj" fmla="val 5000"/>
            </a:avLst>
          </a:prstGeom>
          <a:solidFill>
            <a:srgbClr val="E8F7F2"/>
          </a:solidFill>
          <a:ln w="9525">
            <a:solidFill>
              <a:srgbClr val="10A7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5724144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0A77A"/>
                </a:solidFill>
                <a:latin typeface="Arial"/>
              </a:rPr>
              <a:t>ВНЕШНЯЯ ЭКСПЕРТИЗА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5943600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26984"/>
                </a:solidFill>
                <a:latin typeface="Arial"/>
              </a:rPr>
              <a:t>1 веб-результат для Кстово прошёл внешнюю проверку кода экспертом НЕЙМАРК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37960" y="3794760"/>
            <a:ext cx="4983480" cy="1600200"/>
          </a:xfrm>
          <a:prstGeom prst="roundRect">
            <a:avLst>
              <a:gd name="adj" fmla="val 4000"/>
            </a:avLst>
          </a:prstGeom>
          <a:solidFill>
            <a:srgbClr val="EDF3FC"/>
          </a:solidFill>
          <a:ln w="9525">
            <a:solidFill>
              <a:srgbClr val="DCE4E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7960" y="4283964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ФОТО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0" y="4549140"/>
            <a:ext cx="4892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526984"/>
                </a:solidFill>
                <a:latin typeface="Arial"/>
              </a:rPr>
              <a:t>проектная сессия · аудитория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0" y="4741164"/>
            <a:ext cx="48920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20" b="0" i="0">
                <a:solidFill>
                  <a:srgbClr val="637089"/>
                </a:solidFill>
                <a:latin typeface="Arial"/>
              </a:rPr>
              <a:t>photo: session-audience.jpg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537960" y="5504688"/>
            <a:ext cx="2286000" cy="859536"/>
          </a:xfrm>
          <a:prstGeom prst="roundRect">
            <a:avLst>
              <a:gd name="adj" fmla="val 4000"/>
            </a:avLst>
          </a:prstGeom>
          <a:solidFill>
            <a:srgbClr val="EDF3FC"/>
          </a:solidFill>
          <a:ln w="9525">
            <a:solidFill>
              <a:srgbClr val="DCE4E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37960" y="562355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ФОТО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0" y="588873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526984"/>
                </a:solidFill>
                <a:latin typeface="Arial"/>
              </a:rPr>
              <a:t>рабочая проверка за ноутбуком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6080759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20" b="0" i="0">
                <a:solidFill>
                  <a:srgbClr val="637089"/>
                </a:solidFill>
                <a:latin typeface="Arial"/>
              </a:rPr>
              <a:t>photo: review-laptop.jpg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006840" y="5504688"/>
            <a:ext cx="749808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098280" y="5614416"/>
            <a:ext cx="457200" cy="45720"/>
          </a:xfrm>
          <a:prstGeom prst="round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098280" y="5724144"/>
            <a:ext cx="566928" cy="41148"/>
          </a:xfrm>
          <a:prstGeom prst="round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098280" y="5824728"/>
            <a:ext cx="566928" cy="41148"/>
          </a:xfrm>
          <a:prstGeom prst="round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482328" y="5925312"/>
            <a:ext cx="182880" cy="182880"/>
          </a:xfrm>
          <a:prstGeom prst="ellipse">
            <a:avLst/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875519" y="5504688"/>
            <a:ext cx="749808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966959" y="5614416"/>
            <a:ext cx="457200" cy="45720"/>
          </a:xfrm>
          <a:prstGeom prst="round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9966959" y="5724144"/>
            <a:ext cx="566928" cy="41148"/>
          </a:xfrm>
          <a:prstGeom prst="round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966959" y="5824728"/>
            <a:ext cx="566928" cy="41148"/>
          </a:xfrm>
          <a:prstGeom prst="round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351007" y="5925312"/>
            <a:ext cx="182880" cy="182880"/>
          </a:xfrm>
          <a:prstGeom prst="ellipse">
            <a:avLst/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0744200" y="5504688"/>
            <a:ext cx="749808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0835640" y="5614416"/>
            <a:ext cx="457200" cy="45720"/>
          </a:xfrm>
          <a:prstGeom prst="round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0835640" y="5724144"/>
            <a:ext cx="566928" cy="41148"/>
          </a:xfrm>
          <a:prstGeom prst="round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0835640" y="5824728"/>
            <a:ext cx="566928" cy="41148"/>
          </a:xfrm>
          <a:prstGeom prst="round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1219688" y="5925312"/>
            <a:ext cx="182880" cy="182880"/>
          </a:xfrm>
          <a:prstGeom prst="ellipse">
            <a:avLst/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006840" y="6199632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30" b="0" i="0">
                <a:solidFill>
                  <a:srgbClr val="637089"/>
                </a:solidFill>
                <a:latin typeface="Arial"/>
              </a:rPr>
              <a:t>письма учреждений культуры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65196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37089"/>
                </a:solidFill>
                <a:latin typeface="Arial"/>
              </a:rPr>
              <a:t>Источник: реестр микро-задач · выходные анкеты · письма учреждений · экспертное заключение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72800" y="6492240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637089"/>
                </a:solidFill>
                <a:latin typeface="Arial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69748" y="237744"/>
            <a:ext cx="5481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ЛОГИКА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63600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2936" y="237744"/>
            <a:ext cx="13364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РЕЗУЛЬТАТИВНОСТЬ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5123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4460" y="182880"/>
            <a:ext cx="671657" cy="329184"/>
          </a:xfrm>
          <a:prstGeom prst="roundRect">
            <a:avLst>
              <a:gd name="adj" fmla="val 35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55900" y="475488"/>
            <a:ext cx="488777" cy="41148"/>
          </a:xfrm>
          <a:prstGeom prst="roundRect">
            <a:avLst>
              <a:gd name="adj" fmla="val 50000"/>
            </a:avLst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10764" y="237744"/>
            <a:ext cx="3790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864E8"/>
                </a:solidFill>
                <a:latin typeface="Arial"/>
              </a:rPr>
              <a:t>ИДЕЯ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81837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1174" y="237744"/>
            <a:ext cx="20031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НОВИЗНА + ОБОСНОВАННОСТЬ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9998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9335" y="237744"/>
            <a:ext cx="107261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ЛИЧНЫЙ ВКЛАД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6692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C1628"/>
                </a:solidFill>
                <a:latin typeface="Arial"/>
              </a:rPr>
              <a:t>Идея Дорожной карты сохранена. Проект продолжается.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9326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26984"/>
                </a:solidFill>
                <a:latin typeface="Arial"/>
              </a:rPr>
              <a:t>Контрольная дата стала точкой проверки, а не точкой остановки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1371600"/>
            <a:ext cx="1389888" cy="777240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144475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0C1628"/>
                </a:solidFill>
                <a:latin typeface="Arial"/>
              </a:rPr>
              <a:t>ГИПОТЕЗА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75688" y="1572768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864E8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21991" y="1371600"/>
            <a:ext cx="1389888" cy="777240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76856" y="144475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0C1628"/>
                </a:solidFill>
                <a:latin typeface="Arial"/>
              </a:rPr>
              <a:t>РАБОЧИЙ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79" y="1572768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864E8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58183" y="1371600"/>
            <a:ext cx="1389888" cy="777240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3047" y="144475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0C1628"/>
                </a:solidFill>
                <a:latin typeface="Arial"/>
              </a:rPr>
              <a:t>ПЕРВАЯ ВОЛНА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3047" y="1783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0">
                <a:solidFill>
                  <a:srgbClr val="526984"/>
                </a:solidFill>
                <a:latin typeface="Arial"/>
              </a:rPr>
              <a:t>студенты + задачи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8071" y="1572768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864E8"/>
                </a:solidFill>
                <a:latin typeface="Arial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94375" y="1371600"/>
            <a:ext cx="1389888" cy="777240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39" y="144475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0C1628"/>
                </a:solidFill>
                <a:latin typeface="Arial"/>
              </a:rPr>
              <a:t>3 ПРОЕКТНЫЕ СЕССИИ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84263" y="1572768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864E8"/>
                </a:solidFill>
                <a:latin typeface="Arial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30567" y="1371600"/>
            <a:ext cx="1389888" cy="777240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85431" y="144475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0C1628"/>
                </a:solidFill>
                <a:latin typeface="Arial"/>
              </a:rPr>
              <a:t>10 ЗАДАЧ К 05.08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0455" y="1572768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864E8"/>
                </a:solidFill>
                <a:latin typeface="Arial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59" y="1371600"/>
            <a:ext cx="1389888" cy="777240"/>
          </a:xfrm>
          <a:prstGeom prst="roundRect">
            <a:avLst>
              <a:gd name="adj" fmla="val 6000"/>
            </a:avLst>
          </a:prstGeom>
          <a:solidFill>
            <a:srgbClr val="E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21624" y="144475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10A77A"/>
                </a:solidFill>
                <a:latin typeface="Arial"/>
              </a:rPr>
              <a:t>12 ЗАДАЧ ЗАВЕРШЕНЫ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21240" y="1234440"/>
            <a:ext cx="1627632" cy="1810512"/>
          </a:xfrm>
          <a:prstGeom prst="roundRect">
            <a:avLst>
              <a:gd name="adj" fmla="val 5000"/>
            </a:avLst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94392" y="129844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ОСЕНЬ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4392" y="1591056"/>
            <a:ext cx="14813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НОВЫЕ СТУДЕНТЫ</a:t>
            </a:r>
          </a:p>
          <a:p>
            <a:pPr algn="ctr">
              <a:spcAft>
                <a:spcPts val="100"/>
              </a:spcAft>
            </a:pPr>
            <a:r>
              <a:rPr sz="700" b="0" i="0">
                <a:solidFill>
                  <a:srgbClr val="FFFFFF"/>
                </a:solidFill>
                <a:latin typeface="Arial"/>
              </a:rPr>
              <a:t>+</a:t>
            </a:r>
          </a:p>
          <a:p>
            <a:pPr algn="ctr">
              <a:spcAft>
                <a:spcPts val="10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НОВЫЕ ЗАДАЧИ</a:t>
            </a:r>
          </a:p>
          <a:p>
            <a:pPr algn="ctr">
              <a:spcAft>
                <a:spcPts val="100"/>
              </a:spcAft>
            </a:pPr>
            <a:r>
              <a:rPr sz="700" b="0" i="0">
                <a:solidFill>
                  <a:srgbClr val="FFFFFF"/>
                </a:solidFill>
                <a:latin typeface="Arial"/>
              </a:rPr>
              <a:t>+</a:t>
            </a:r>
          </a:p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РАСШИРЕНИЕ ГЕОГРАФИИ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94392" y="2606040"/>
            <a:ext cx="14813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0" i="0">
                <a:solidFill>
                  <a:srgbClr val="CFE0FF"/>
                </a:solidFill>
                <a:latin typeface="Arial"/>
              </a:rPr>
              <a:t>Нижегородская область → постепенный переход к межрегиональной модели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2331720"/>
            <a:ext cx="7223760" cy="274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2331720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526984"/>
                </a:solidFill>
                <a:latin typeface="Arial"/>
              </a:rPr>
              <a:t>05.02–05.08 · пилот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2331720"/>
            <a:ext cx="1737360" cy="274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23317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526984"/>
                </a:solidFill>
                <a:latin typeface="Arial"/>
              </a:rPr>
              <a:t>06.08–25.12 · развитие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3200400"/>
            <a:ext cx="10835640" cy="1463040"/>
          </a:xfrm>
          <a:prstGeom prst="roundRect">
            <a:avLst>
              <a:gd name="adj" fmla="val 4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33101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2864E8"/>
                </a:solidFill>
                <a:latin typeface="Arial"/>
              </a:rPr>
              <a:t>НЕИЗМЕННОЕ ЯДРО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" y="3675887"/>
            <a:ext cx="643778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3675887"/>
            <a:ext cx="64377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C1628"/>
                </a:solidFill>
                <a:latin typeface="Arial"/>
              </a:rPr>
              <a:t>запрос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12458" y="3675887"/>
            <a:ext cx="2560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864E8"/>
                </a:solidFill>
                <a:latin typeface="Arial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768490" y="3675887"/>
            <a:ext cx="659932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768490" y="3675887"/>
            <a:ext cx="6599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C1628"/>
                </a:solidFill>
                <a:latin typeface="Arial"/>
              </a:rPr>
              <a:t>задача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28422" y="3675887"/>
            <a:ext cx="2560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864E8"/>
                </a:solidFill>
                <a:latin typeface="Arial"/>
              </a:rP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684454" y="3675887"/>
            <a:ext cx="981943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84454" y="3675887"/>
            <a:ext cx="98194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C1628"/>
                </a:solidFill>
                <a:latin typeface="Arial"/>
              </a:rPr>
              <a:t>выполнение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66398" y="3675887"/>
            <a:ext cx="2560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864E8"/>
                </a:solidFill>
                <a:latin typeface="Arial"/>
              </a:rP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922430" y="3675887"/>
            <a:ext cx="809630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22430" y="3675887"/>
            <a:ext cx="80963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C1628"/>
                </a:solidFill>
                <a:latin typeface="Arial"/>
              </a:rPr>
              <a:t>проверка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32060" y="3675887"/>
            <a:ext cx="2560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864E8"/>
                </a:solidFill>
                <a:latin typeface="Arial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88092" y="3675887"/>
            <a:ext cx="846246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88092" y="3675887"/>
            <a:ext cx="84624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C1628"/>
                </a:solidFill>
                <a:latin typeface="Arial"/>
              </a:rPr>
              <a:t>результат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34339" y="3675887"/>
            <a:ext cx="2560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864E8"/>
                </a:solidFill>
                <a:latin typeface="Arial"/>
              </a:rP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90371" y="3675887"/>
            <a:ext cx="504850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90371" y="3675887"/>
            <a:ext cx="50485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C1628"/>
                </a:solidFill>
                <a:latin typeface="Arial"/>
              </a:rPr>
              <a:t>кейс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95221" y="3675887"/>
            <a:ext cx="2560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864E8"/>
                </a:solidFill>
                <a:latin typeface="Arial"/>
              </a:rPr>
              <a:t>→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851253" y="3675887"/>
            <a:ext cx="583468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1253" y="3675887"/>
            <a:ext cx="5834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C1628"/>
                </a:solidFill>
                <a:latin typeface="Arial"/>
              </a:rPr>
              <a:t>отзыв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" y="416052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26984"/>
                </a:solidFill>
                <a:latin typeface="Arial"/>
              </a:rPr>
              <a:t>полный рабочий цикл участника — без разрывов между инструментами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95360" y="3520440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C1628"/>
                </a:solidFill>
                <a:latin typeface="Arial"/>
              </a:rPr>
              <a:t>Механика сохранилась.</a:t>
            </a:r>
          </a:p>
          <a:p>
            <a:pPr algn="l"/>
            <a:r>
              <a:rPr sz="1500" b="1" i="0">
                <a:solidFill>
                  <a:srgbClr val="2864E8"/>
                </a:solidFill>
                <a:latin typeface="Arial"/>
              </a:rPr>
              <a:t>Масштаб растёт.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85800" y="4846320"/>
            <a:ext cx="3538728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32104" y="4992624"/>
            <a:ext cx="82296" cy="457200"/>
          </a:xfrm>
          <a:prstGeom prst="roundRect">
            <a:avLst>
              <a:gd name="adj" fmla="val 40000"/>
            </a:avLst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51560" y="49560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C1628"/>
                </a:solidFill>
                <a:latin typeface="Arial"/>
              </a:rPr>
              <a:t>ЧЕК-ЛИСТЫ + РЕГЛАМЕНТ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" y="523036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26984"/>
                </a:solidFill>
                <a:latin typeface="Arial"/>
              </a:rPr>
              <a:t>стандартизация модерации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343400" y="4846320"/>
            <a:ext cx="3538728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4489704" y="4992624"/>
            <a:ext cx="82296" cy="457200"/>
          </a:xfrm>
          <a:prstGeom prst="roundRect">
            <a:avLst>
              <a:gd name="adj" fmla="val 40000"/>
            </a:avLst>
          </a:prstGeom>
          <a:solidFill>
            <a:srgbClr val="784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09160" y="49560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C1628"/>
                </a:solidFill>
                <a:latin typeface="Arial"/>
              </a:rPr>
              <a:t>РАСПРЕДЕЛЕНИЕ РОЛЕЙ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09160" y="523036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26984"/>
                </a:solidFill>
                <a:latin typeface="Arial"/>
              </a:rPr>
              <a:t>операционные процессы команды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001000" y="4846320"/>
            <a:ext cx="3538728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147304" y="4992624"/>
            <a:ext cx="82296" cy="457200"/>
          </a:xfrm>
          <a:prstGeom prst="roundRect">
            <a:avLst>
              <a:gd name="adj" fmla="val 40000"/>
            </a:avLst>
          </a:prstGeom>
          <a:solidFill>
            <a:srgbClr val="10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66760" y="49560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C1628"/>
                </a:solidFill>
                <a:latin typeface="Arial"/>
              </a:rPr>
              <a:t>ФЕДЕРАЛЬНЫЕ ДАННЫЕ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66760" y="523036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26984"/>
                </a:solidFill>
                <a:latin typeface="Arial"/>
              </a:rPr>
              <a:t>дополнительная проверка гипотезы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65196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37089"/>
                </a:solidFill>
                <a:latin typeface="Arial"/>
              </a:rPr>
              <a:t>Источник: Дорожная карта проекта · этапы 05.02–25.12.2026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72800" y="6492240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637089"/>
                </a:solidFill>
                <a:latin typeface="Arial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69748" y="237744"/>
            <a:ext cx="5481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ЛОГИКА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63600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2936" y="237744"/>
            <a:ext cx="13364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РЕЗУЛЬТАТИВНОСТЬ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5123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4460" y="237744"/>
            <a:ext cx="3790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ИДЕЯ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9229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98566" y="182880"/>
            <a:ext cx="2295712" cy="329184"/>
          </a:xfrm>
          <a:prstGeom prst="roundRect">
            <a:avLst>
              <a:gd name="adj" fmla="val 35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90006" y="475488"/>
            <a:ext cx="2112832" cy="41148"/>
          </a:xfrm>
          <a:prstGeom prst="roundRect">
            <a:avLst>
              <a:gd name="adj" fmla="val 50000"/>
            </a:avLst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4870" y="237744"/>
            <a:ext cx="20031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864E8"/>
                </a:solidFill>
                <a:latin typeface="Arial"/>
              </a:rPr>
              <a:t>НОВИЗНА + ОБОСНОВАННОСТЬ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9998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9335" y="237744"/>
            <a:ext cx="107261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ЛИЧНЫЙ ВКЛАД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6692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C1628"/>
                </a:solidFill>
                <a:latin typeface="Arial"/>
              </a:rPr>
              <a:t>Новизна в сочетании механик и экосистем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9326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26984"/>
                </a:solidFill>
                <a:latin typeface="Arial"/>
              </a:rPr>
              <a:t>Не одна новая функция, а новый формат взаимодействия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1280160"/>
            <a:ext cx="3611880" cy="3154680"/>
          </a:xfrm>
          <a:prstGeom prst="roundRect">
            <a:avLst>
              <a:gd name="adj" fmla="val 4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138988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864E8"/>
                </a:solidFill>
                <a:latin typeface="Arial"/>
              </a:rPr>
              <a:t>ЕДИНЫЙ РАБОЧИЙ ЦИКЛ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1755648"/>
            <a:ext cx="2651760" cy="274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175564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0C1628"/>
                </a:solidFill>
                <a:latin typeface="Arial"/>
              </a:rPr>
              <a:t>запрос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2011680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>
                <a:solidFill>
                  <a:srgbClr val="2864E8"/>
                </a:solidFill>
                <a:latin typeface="Arial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2139696"/>
            <a:ext cx="2651760" cy="274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213969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0C1628"/>
                </a:solidFill>
                <a:latin typeface="Arial"/>
              </a:rPr>
              <a:t>декомпозиция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2395728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>
                <a:solidFill>
                  <a:srgbClr val="2864E8"/>
                </a:solidFill>
                <a:latin typeface="Arial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2523744"/>
            <a:ext cx="2651760" cy="274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252374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0C1628"/>
                </a:solidFill>
                <a:latin typeface="Arial"/>
              </a:rPr>
              <a:t>задача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2779776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>
                <a:solidFill>
                  <a:srgbClr val="2864E8"/>
                </a:solidFill>
                <a:latin typeface="Arial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" y="2907791"/>
            <a:ext cx="2651760" cy="274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2907791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0C1628"/>
                </a:solidFill>
                <a:latin typeface="Arial"/>
              </a:rPr>
              <a:t>исполнитель / команда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3163824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>
                <a:solidFill>
                  <a:srgbClr val="2864E8"/>
                </a:solidFill>
                <a:latin typeface="Arial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" y="3291839"/>
            <a:ext cx="2651760" cy="274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3291839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0C1628"/>
                </a:solidFill>
                <a:latin typeface="Arial"/>
              </a:rPr>
              <a:t>проверка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3547872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>
                <a:solidFill>
                  <a:srgbClr val="2864E8"/>
                </a:solidFill>
                <a:latin typeface="Arial"/>
              </a:rP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560" y="3675887"/>
            <a:ext cx="2651760" cy="274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3675887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0C1628"/>
                </a:solidFill>
                <a:latin typeface="Arial"/>
              </a:rPr>
              <a:t>кейс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114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>
                <a:solidFill>
                  <a:srgbClr val="637089"/>
                </a:solidFill>
                <a:latin typeface="Arial"/>
              </a:rPr>
              <a:t>весь пользовательский путь в одном цифровом продукте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0560" y="1280160"/>
            <a:ext cx="3291840" cy="3154680"/>
          </a:xfrm>
          <a:prstGeom prst="roundRect">
            <a:avLst>
              <a:gd name="adj" fmla="val 4000"/>
            </a:avLst>
          </a:prstGeom>
          <a:solidFill>
            <a:srgbClr val="F0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138988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840EE"/>
                </a:solidFill>
                <a:latin typeface="Arial"/>
              </a:rPr>
              <a:t>КООПЕРАЦИЯ ЭКОСИСТЕМ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0" y="2514600"/>
            <a:ext cx="1280160" cy="914400"/>
          </a:xfrm>
          <a:prstGeom prst="roundRect">
            <a:avLst>
              <a:gd name="adj" fmla="val 12000"/>
            </a:avLst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0" y="2514600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РЕАЛЬНАЯ ЗАДАЧА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40680" y="1783080"/>
            <a:ext cx="760507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40680" y="1783080"/>
            <a:ext cx="76050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80" b="1" i="0">
                <a:solidFill>
                  <a:srgbClr val="0C1628"/>
                </a:solidFill>
                <a:latin typeface="Arial"/>
              </a:rPr>
              <a:t>СТУДЕНТЫ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03520" y="3611880"/>
            <a:ext cx="936267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0" y="3611880"/>
            <a:ext cx="93626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80" b="1" i="0">
                <a:solidFill>
                  <a:srgbClr val="0C1628"/>
                </a:solidFill>
                <a:latin typeface="Arial"/>
              </a:rPr>
              <a:t>УЧРЕЖДЕНИЯ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0" y="2697480"/>
            <a:ext cx="755015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2697480"/>
            <a:ext cx="7550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80" b="1" i="0">
                <a:solidFill>
                  <a:srgbClr val="0C1628"/>
                </a:solidFill>
                <a:latin typeface="Arial"/>
              </a:rPr>
              <a:t>ЭКСПЕРТЫ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0" y="2697480"/>
            <a:ext cx="760507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2697480"/>
            <a:ext cx="76050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80" b="1" i="0">
                <a:solidFill>
                  <a:srgbClr val="0C1628"/>
                </a:solidFill>
                <a:latin typeface="Arial"/>
              </a:rPr>
              <a:t>ПАРТНЁРЫ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406908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>
                <a:solidFill>
                  <a:srgbClr val="637089"/>
                </a:solidFill>
                <a:latin typeface="Arial"/>
              </a:rPr>
              <a:t>разные участники работают вокруг одного прикладного результата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55279" y="1280160"/>
            <a:ext cx="3566160" cy="3154680"/>
          </a:xfrm>
          <a:prstGeom prst="roundRect">
            <a:avLst>
              <a:gd name="adj" fmla="val 4000"/>
            </a:avLst>
          </a:prstGeom>
          <a:solidFill>
            <a:srgbClr val="E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92440" y="138988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10A77A"/>
                </a:solidFill>
                <a:latin typeface="Arial"/>
              </a:rPr>
              <a:t>КООПЕРАЦИЯ ВНУТРИ ОДНОГО КОНКУРСА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38160" y="1737360"/>
            <a:ext cx="320040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47888" y="1810512"/>
            <a:ext cx="29809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780" b="1" i="0">
                <a:solidFill>
                  <a:srgbClr val="0C1628"/>
                </a:solidFill>
                <a:latin typeface="Arial"/>
              </a:rPr>
              <a:t>Проект «Слово на равных»</a:t>
            </a:r>
          </a:p>
          <a:p>
            <a:pPr algn="l"/>
            <a:r>
              <a:rPr sz="660" b="0" i="0">
                <a:solidFill>
                  <a:srgbClr val="637089"/>
                </a:solidFill>
                <a:latin typeface="Arial"/>
              </a:rPr>
              <a:t>проект «Твоего Хода» о профессиональной коммуникации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47888" y="2286000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 i="0">
                <a:solidFill>
                  <a:srgbClr val="2864E8"/>
                </a:solidFill>
                <a:latin typeface="Arial"/>
              </a:rPr>
              <a:t>× «Студенческий подряд»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47888" y="2560320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10A77A"/>
                </a:solidFill>
                <a:latin typeface="Arial"/>
              </a:rPr>
              <a:t>коммуникация + работа с реальным заказчиком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38160" y="3017520"/>
            <a:ext cx="320040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47888" y="3090672"/>
            <a:ext cx="29809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780" b="1" i="0">
                <a:solidFill>
                  <a:srgbClr val="0C1628"/>
                </a:solidFill>
                <a:latin typeface="Arial"/>
              </a:rPr>
              <a:t>Проект «Народы Нижегородской области»</a:t>
            </a:r>
          </a:p>
          <a:p>
            <a:pPr algn="l"/>
            <a:r>
              <a:rPr sz="660" b="0" i="0">
                <a:solidFill>
                  <a:srgbClr val="637089"/>
                </a:solidFill>
                <a:latin typeface="Arial"/>
              </a:rPr>
              <a:t>проект «Твоего Хода» о культуре народов региона через настольную игру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47888" y="3584448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 i="0">
                <a:solidFill>
                  <a:srgbClr val="2864E8"/>
                </a:solidFill>
                <a:latin typeface="Arial"/>
              </a:rPr>
              <a:t>× «Студенческий подряд»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47888" y="3858768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10A77A"/>
                </a:solidFill>
                <a:latin typeface="Arial"/>
              </a:rPr>
              <a:t>культура офлайн + цифровые решения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4572000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C1628"/>
                </a:solidFill>
                <a:latin typeface="Arial"/>
              </a:rPr>
              <a:t>КОНКУРИРУЕМ ИДЕЯМИ. СОТРУДНИЧАЕМ РАДИ РЕЗУЛЬТАТА.</a:t>
            </a:r>
          </a:p>
        </p:txBody>
      </p:sp>
      <p:sp>
        <p:nvSpPr>
          <p:cNvPr id="59" name="Oval 58"/>
          <p:cNvSpPr/>
          <p:nvPr/>
        </p:nvSpPr>
        <p:spPr>
          <a:xfrm>
            <a:off x="1463040" y="5001768"/>
            <a:ext cx="109728" cy="109728"/>
          </a:xfrm>
          <a:prstGeom prst="ellipse">
            <a:avLst/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4956048"/>
            <a:ext cx="13586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26984"/>
                </a:solidFill>
                <a:latin typeface="Arial"/>
              </a:rPr>
              <a:t>понимать заказчика</a:t>
            </a:r>
          </a:p>
        </p:txBody>
      </p:sp>
      <p:sp>
        <p:nvSpPr>
          <p:cNvPr id="61" name="Oval 60"/>
          <p:cNvSpPr/>
          <p:nvPr/>
        </p:nvSpPr>
        <p:spPr>
          <a:xfrm>
            <a:off x="3324644" y="5001768"/>
            <a:ext cx="109728" cy="109728"/>
          </a:xfrm>
          <a:prstGeom prst="ellipse">
            <a:avLst/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89236" y="4956048"/>
            <a:ext cx="13435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26984"/>
                </a:solidFill>
                <a:latin typeface="Arial"/>
              </a:rPr>
              <a:t>работать в команде</a:t>
            </a:r>
          </a:p>
        </p:txBody>
      </p:sp>
      <p:sp>
        <p:nvSpPr>
          <p:cNvPr id="63" name="Oval 62"/>
          <p:cNvSpPr/>
          <p:nvPr/>
        </p:nvSpPr>
        <p:spPr>
          <a:xfrm>
            <a:off x="5171103" y="5001768"/>
            <a:ext cx="109728" cy="109728"/>
          </a:xfrm>
          <a:prstGeom prst="ellipse">
            <a:avLst/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35695" y="4956048"/>
            <a:ext cx="224616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26984"/>
                </a:solidFill>
                <a:latin typeface="Arial"/>
              </a:rPr>
              <a:t>взаимодействовать с другой сферой</a:t>
            </a:r>
          </a:p>
        </p:txBody>
      </p:sp>
      <p:sp>
        <p:nvSpPr>
          <p:cNvPr id="65" name="Oval 64"/>
          <p:cNvSpPr/>
          <p:nvPr/>
        </p:nvSpPr>
        <p:spPr>
          <a:xfrm>
            <a:off x="7920189" y="5001768"/>
            <a:ext cx="109728" cy="109728"/>
          </a:xfrm>
          <a:prstGeom prst="ellipse">
            <a:avLst/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84781" y="4956048"/>
            <a:ext cx="135464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26984"/>
                </a:solidFill>
                <a:latin typeface="Arial"/>
              </a:rPr>
              <a:t>доводить результат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85800" y="5321808"/>
            <a:ext cx="1083564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22960" y="5230368"/>
            <a:ext cx="1554480" cy="256032"/>
          </a:xfrm>
          <a:prstGeom prst="roundRect">
            <a:avLst>
              <a:gd name="adj" fmla="val 30000"/>
            </a:avLst>
          </a:prstGeom>
          <a:solidFill>
            <a:srgbClr val="ED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2960" y="5230368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2864E8"/>
                </a:solidFill>
                <a:latin typeface="Arial"/>
              </a:rPr>
              <a:t>СФЕРА ПРИМЕНЕНИЯ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" y="5486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C1628"/>
                </a:solidFill>
                <a:latin typeface="Arial"/>
              </a:rPr>
              <a:t>Сейчас: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" y="5724144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526984"/>
                </a:solidFill>
                <a:latin typeface="Arial"/>
              </a:rPr>
              <a:t>практико-ориентированный опыт студентов + цифровые задачи учреждений культуры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0936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C1628"/>
                </a:solidFill>
                <a:latin typeface="Arial"/>
              </a:rPr>
              <a:t>Потенциал развития: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09360" y="5724144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526984"/>
                </a:solidFill>
                <a:latin typeface="Arial"/>
              </a:rPr>
              <a:t>другие муниципальные и социальные организации с небольшими цифровыми запросами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5800" y="6254496"/>
            <a:ext cx="10835640" cy="237744"/>
          </a:xfrm>
          <a:prstGeom prst="roundRect">
            <a:avLst>
              <a:gd name="adj" fmla="val 20000"/>
            </a:avLst>
          </a:prstGeom>
          <a:solidFill>
            <a:srgbClr val="ED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5800" y="6254496"/>
            <a:ext cx="108356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526984"/>
                </a:solidFill>
                <a:latin typeface="Arial"/>
              </a:rPr>
              <a:t>ФЕДЕРАЛЬНЫЙ КОНТЕКСТ · Указ №309 · «Молодёжь и дети» · «Экономика данных» · «Семья»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65196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37089"/>
                </a:solidFill>
                <a:latin typeface="Arial"/>
              </a:rPr>
              <a:t>Источник: Дорожная карта · материалы коллабораций · письма партнёров · федеральные документы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92240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637089"/>
                </a:solidFill>
                <a:latin typeface="Arial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69748" y="237744"/>
            <a:ext cx="5481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ЛОГИКА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63600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2936" y="237744"/>
            <a:ext cx="13364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РЕЗУЛЬТАТИВНОСТЬ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5123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4460" y="237744"/>
            <a:ext cx="3790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ИДЕЯ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9229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8566" y="237744"/>
            <a:ext cx="20031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26984"/>
                </a:solidFill>
                <a:latin typeface="Arial"/>
              </a:rPr>
              <a:t>НОВИЗНА + ОБОСНОВАННОСТЬ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7390" y="237744"/>
            <a:ext cx="163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DCE4EF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6727" y="182880"/>
            <a:ext cx="1365219" cy="329184"/>
          </a:xfrm>
          <a:prstGeom prst="roundRect">
            <a:avLst>
              <a:gd name="adj" fmla="val 35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48167" y="475488"/>
            <a:ext cx="1182339" cy="41148"/>
          </a:xfrm>
          <a:prstGeom prst="roundRect">
            <a:avLst>
              <a:gd name="adj" fmla="val 50000"/>
            </a:avLst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3031" y="237744"/>
            <a:ext cx="107261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864E8"/>
                </a:solidFill>
                <a:latin typeface="Arial"/>
              </a:rPr>
              <a:t>ЛИЧНЫЙ ВКЛАД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6692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C1628"/>
                </a:solidFill>
                <a:latin typeface="Arial"/>
              </a:rPr>
              <a:t>Личный вклад лидера: решения, ответственность, результат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9326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26984"/>
                </a:solidFill>
                <a:latin typeface="Arial"/>
              </a:rPr>
              <a:t>От идеи и продукта до заказчика и принятого результата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1280160"/>
            <a:ext cx="6355080" cy="5074920"/>
          </a:xfrm>
          <a:prstGeom prst="roundRect">
            <a:avLst>
              <a:gd name="adj" fmla="val 3000"/>
            </a:avLst>
          </a:prstGeom>
          <a:solidFill>
            <a:srgbClr val="EAF1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1463040"/>
            <a:ext cx="777240" cy="777240"/>
          </a:xfrm>
          <a:prstGeom prst="ellipse">
            <a:avLst/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146304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148132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C1628"/>
                </a:solidFill>
                <a:latin typeface="Arial"/>
              </a:rPr>
              <a:t>Ершов Иван Сергеевич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18288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864E8"/>
                </a:solidFill>
                <a:latin typeface="Arial"/>
              </a:rPr>
              <a:t>Лидер · ID 2234178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21031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26984"/>
                </a:solidFill>
                <a:latin typeface="Arial"/>
              </a:rPr>
              <a:t>Личная ответственность за продукт, заказчиков, качество и итоговый результат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2697480"/>
            <a:ext cx="19202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96695" y="2843784"/>
            <a:ext cx="274320" cy="54864"/>
          </a:xfrm>
          <a:prstGeom prst="roundRect">
            <a:avLst>
              <a:gd name="adj" fmla="val 40000"/>
            </a:avLst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5" y="29718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C1628"/>
                </a:solidFill>
                <a:latin typeface="Arial"/>
              </a:rPr>
              <a:t>ПРОДУКТ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5" y="3264408"/>
            <a:ext cx="1691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526984"/>
                </a:solidFill>
                <a:latin typeface="Arial"/>
              </a:rPr>
              <a:t>продуктовая модель</a:t>
            </a:r>
          </a:p>
          <a:p>
            <a:pPr algn="l"/>
            <a:r>
              <a:rPr sz="730" b="0" i="0">
                <a:solidFill>
                  <a:srgbClr val="526984"/>
                </a:solidFill>
                <a:latin typeface="Arial"/>
              </a:rPr>
              <a:t>+ архитектура портала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2697480"/>
            <a:ext cx="19202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54096" y="2843784"/>
            <a:ext cx="274320" cy="54864"/>
          </a:xfrm>
          <a:prstGeom prst="roundRect">
            <a:avLst>
              <a:gd name="adj" fmla="val 40000"/>
            </a:avLst>
          </a:prstGeom>
          <a:solidFill>
            <a:srgbClr val="18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29718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C1628"/>
                </a:solidFill>
                <a:latin typeface="Arial"/>
              </a:rPr>
              <a:t>РАЗРАБОТКА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54096" y="3264408"/>
            <a:ext cx="1691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526984"/>
                </a:solidFill>
                <a:latin typeface="Arial"/>
              </a:rPr>
              <a:t>портал</a:t>
            </a:r>
          </a:p>
          <a:p>
            <a:pPr algn="l"/>
            <a:r>
              <a:rPr sz="730" b="0" i="0">
                <a:solidFill>
                  <a:srgbClr val="526984"/>
                </a:solidFill>
                <a:latin typeface="Arial"/>
              </a:rPr>
              <a:t>+ пользовательские сценарии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83480" y="2697480"/>
            <a:ext cx="19202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111496" y="2843784"/>
            <a:ext cx="274320" cy="54864"/>
          </a:xfrm>
          <a:prstGeom prst="roundRect">
            <a:avLst>
              <a:gd name="adj" fmla="val 40000"/>
            </a:avLst>
          </a:prstGeom>
          <a:solidFill>
            <a:srgbClr val="E78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11496" y="29718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C1628"/>
                </a:solidFill>
                <a:latin typeface="Arial"/>
              </a:rPr>
              <a:t>ЗАКАЗЧИКИ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11496" y="3264408"/>
            <a:ext cx="1691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526984"/>
                </a:solidFill>
                <a:latin typeface="Arial"/>
              </a:rPr>
              <a:t>переговоры</a:t>
            </a:r>
          </a:p>
          <a:p>
            <a:pPr algn="l"/>
            <a:r>
              <a:rPr sz="730" b="0" i="0">
                <a:solidFill>
                  <a:srgbClr val="526984"/>
                </a:solidFill>
                <a:latin typeface="Arial"/>
              </a:rPr>
              <a:t>+ декомпозиция запросов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4480560"/>
            <a:ext cx="19202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96695" y="4626864"/>
            <a:ext cx="274320" cy="54864"/>
          </a:xfrm>
          <a:prstGeom prst="roundRect">
            <a:avLst>
              <a:gd name="adj" fmla="val 40000"/>
            </a:avLst>
          </a:prstGeom>
          <a:solidFill>
            <a:srgbClr val="784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5" y="47548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C1628"/>
                </a:solidFill>
                <a:latin typeface="Arial"/>
              </a:rPr>
              <a:t>ИССЛЕДОВАНИЕ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5" y="5047488"/>
            <a:ext cx="1691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526984"/>
                </a:solidFill>
                <a:latin typeface="Arial"/>
              </a:rPr>
              <a:t>гипотеза</a:t>
            </a:r>
          </a:p>
          <a:p>
            <a:pPr algn="l"/>
            <a:r>
              <a:rPr sz="730" b="0" i="0">
                <a:solidFill>
                  <a:srgbClr val="526984"/>
                </a:solidFill>
                <a:latin typeface="Arial"/>
              </a:rPr>
              <a:t>+ организация исследования</a:t>
            </a:r>
          </a:p>
          <a:p>
            <a:pPr algn="l"/>
            <a:r>
              <a:rPr sz="730" b="0" i="0">
                <a:solidFill>
                  <a:srgbClr val="526984"/>
                </a:solidFill>
                <a:latin typeface="Arial"/>
              </a:rPr>
              <a:t>+ анализ данных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26080" y="4480560"/>
            <a:ext cx="19202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054096" y="4626864"/>
            <a:ext cx="274320" cy="54864"/>
          </a:xfrm>
          <a:prstGeom prst="roundRect">
            <a:avLst>
              <a:gd name="adj" fmla="val 40000"/>
            </a:avLst>
          </a:prstGeom>
          <a:solidFill>
            <a:srgbClr val="10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7548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C1628"/>
                </a:solidFill>
                <a:latin typeface="Arial"/>
              </a:rPr>
              <a:t>КАЧЕСТВО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54096" y="5047488"/>
            <a:ext cx="1691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526984"/>
                </a:solidFill>
                <a:latin typeface="Arial"/>
              </a:rPr>
              <a:t>модерация</a:t>
            </a:r>
          </a:p>
          <a:p>
            <a:pPr algn="l"/>
            <a:r>
              <a:rPr sz="730" b="0" i="0">
                <a:solidFill>
                  <a:srgbClr val="526984"/>
                </a:solidFill>
                <a:latin typeface="Arial"/>
              </a:rPr>
              <a:t>+ контроль</a:t>
            </a:r>
          </a:p>
          <a:p>
            <a:pPr algn="l"/>
            <a:r>
              <a:rPr sz="730" b="0" i="0">
                <a:solidFill>
                  <a:srgbClr val="526984"/>
                </a:solidFill>
                <a:latin typeface="Arial"/>
              </a:rPr>
              <a:t>+ согласование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83480" y="4480560"/>
            <a:ext cx="19202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111496" y="4626864"/>
            <a:ext cx="274320" cy="54864"/>
          </a:xfrm>
          <a:prstGeom prst="roundRect">
            <a:avLst>
              <a:gd name="adj" fmla="val 40000"/>
            </a:avLst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11496" y="47548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C1628"/>
                </a:solidFill>
                <a:latin typeface="Arial"/>
              </a:rPr>
              <a:t>УПРАВЛЕНИЕ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11496" y="5047488"/>
            <a:ext cx="1691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526984"/>
                </a:solidFill>
                <a:latin typeface="Arial"/>
              </a:rPr>
              <a:t>команда</a:t>
            </a:r>
          </a:p>
          <a:p>
            <a:pPr algn="l"/>
            <a:r>
              <a:rPr sz="730" b="0" i="0">
                <a:solidFill>
                  <a:srgbClr val="526984"/>
                </a:solidFill>
                <a:latin typeface="Arial"/>
              </a:rPr>
              <a:t>+ партнёры</a:t>
            </a:r>
          </a:p>
          <a:p>
            <a:pPr algn="l"/>
            <a:r>
              <a:rPr sz="730" b="0" i="0">
                <a:solidFill>
                  <a:srgbClr val="526984"/>
                </a:solidFill>
                <a:latin typeface="Arial"/>
              </a:rPr>
              <a:t>+ сроки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69480" y="1280160"/>
            <a:ext cx="425196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452360" y="1463040"/>
            <a:ext cx="640080" cy="640080"/>
          </a:xfrm>
          <a:prstGeom prst="ellipse">
            <a:avLst/>
          </a:prstGeom>
          <a:solidFill>
            <a:srgbClr val="784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52360" y="1463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МШ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148132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C1628"/>
                </a:solidFill>
                <a:latin typeface="Arial"/>
              </a:rPr>
              <a:t>Шевченко Михаил Алексеевич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1783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>
                <a:solidFill>
                  <a:srgbClr val="7840EE"/>
                </a:solidFill>
                <a:latin typeface="Arial"/>
              </a:rPr>
              <a:t>Системный администратор · ID 3057513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52360" y="224028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26984"/>
                </a:solidFill>
                <a:latin typeface="Arial"/>
              </a:rPr>
              <a:t>инфраструктура · домен / хостинг · мониторинг · резервное копирование · тестирование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69480" y="3566160"/>
            <a:ext cx="4251960" cy="1325880"/>
          </a:xfrm>
          <a:prstGeom prst="roundRect">
            <a:avLst>
              <a:gd name="adj" fmla="val 4000"/>
            </a:avLst>
          </a:prstGeom>
          <a:solidFill>
            <a:srgbClr val="ED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52360" y="3675887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C1628"/>
                </a:solidFill>
                <a:latin typeface="Arial"/>
              </a:rPr>
              <a:t>Слободенюк Милана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52360" y="3986784"/>
            <a:ext cx="2286000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52360" y="398678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80" b="1" i="0">
                <a:solidFill>
                  <a:srgbClr val="526984"/>
                </a:solidFill>
                <a:latin typeface="Arial"/>
              </a:rPr>
              <a:t>ПРИВЛЕЧЁННАЯ МЕДИА-ПОДДЕРЖКА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52360" y="4315968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26984"/>
                </a:solidFill>
                <a:latin typeface="Arial"/>
              </a:rPr>
              <a:t>VK-сообщество · тексты · публикации · упаковка результатов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69480" y="5029200"/>
            <a:ext cx="4251960" cy="1325880"/>
          </a:xfrm>
          <a:prstGeom prst="roundRect">
            <a:avLst>
              <a:gd name="adj" fmla="val 4000"/>
            </a:avLst>
          </a:prstGeom>
          <a:solidFill>
            <a:srgbClr val="FDF3E3"/>
          </a:solidFill>
          <a:ln w="9525">
            <a:solidFill>
              <a:srgbClr val="E7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52360" y="5120640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E78A16"/>
                </a:solidFill>
                <a:latin typeface="Arial"/>
              </a:rPr>
              <a:t>УПРАВЛЕНЧЕСКИЙ ВЫВОД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52360" y="535838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C1628"/>
                </a:solidFill>
                <a:latin typeface="Arial"/>
              </a:rPr>
              <a:t>ПЕРВЫЙ МЕЖРЕГИОНАЛЬНЫЙ ВЫХОД · ИВАНОВО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52360" y="559612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>
                <a:solidFill>
                  <a:srgbClr val="526984"/>
                </a:solidFill>
                <a:latin typeface="Arial"/>
              </a:rPr>
              <a:t>подготовили демо → учреждение выбрало внутреннего специалиста → уточнили модель масштабирования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52360" y="5943600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0C1628"/>
                </a:solidFill>
                <a:latin typeface="Arial"/>
              </a:rPr>
              <a:t>Для работы с государственными учреждениями важны не только качество решения, но и доверительный партнёрский вход.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65196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37089"/>
                </a:solidFill>
                <a:latin typeface="Arial"/>
              </a:rPr>
              <a:t>Источник: Дорожная карта · письма поддержки · материалы проекта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0" y="6492240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637089"/>
                </a:solidFill>
                <a:latin typeface="Arial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ut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1480"/>
            <a:ext cx="1051560" cy="11961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" y="411480"/>
            <a:ext cx="1051560" cy="1197864"/>
          </a:xfrm>
          <a:prstGeom prst="rect">
            <a:avLst/>
          </a:prstGeom>
          <a:noFill/>
          <a:ln w="9525">
            <a:solidFill>
              <a:srgbClr val="2A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65960" y="457200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FFFFFF"/>
                </a:solidFill>
                <a:latin typeface="Arial"/>
              </a:rPr>
              <a:t>«Действительно, производственный стаж, практика к моменту окончания вуза очень важны. Это очевидно!»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298448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8FA3BC"/>
                </a:solidFill>
                <a:latin typeface="Arial"/>
              </a:rPr>
              <a:t>Владимир Путин · заседание Государственного Совета · 25.12.2025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«СТУДЕНЧЕСКИЙ ПОДРЯД»</a:t>
            </a:r>
          </a:p>
          <a:p>
            <a:pPr algn="l"/>
            <a:r>
              <a:rPr sz="2400" b="1" i="0">
                <a:solidFill>
                  <a:srgbClr val="6EA8FF"/>
                </a:solidFill>
                <a:latin typeface="Arial"/>
              </a:rPr>
              <a:t>МОСТ К ПЕРВОМУ ПРОФЕССИОНАЛЬНОМУ ОПЫТУ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43200"/>
            <a:ext cx="903022" cy="365760"/>
          </a:xfrm>
          <a:prstGeom prst="roundRect">
            <a:avLst>
              <a:gd name="adj" fmla="val 30000"/>
            </a:avLst>
          </a:prstGeom>
          <a:solidFill>
            <a:srgbClr val="0E2440"/>
          </a:solidFill>
          <a:ln w="9525">
            <a:solidFill>
              <a:srgbClr val="2E5A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90302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9CC0FF"/>
                </a:solidFill>
                <a:latin typeface="Arial"/>
              </a:rPr>
              <a:t>ЗАПРОС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8822" y="274320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6EA8FF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08862" y="2743200"/>
            <a:ext cx="1510494" cy="365760"/>
          </a:xfrm>
          <a:prstGeom prst="roundRect">
            <a:avLst>
              <a:gd name="adj" fmla="val 30000"/>
            </a:avLst>
          </a:prstGeom>
          <a:solidFill>
            <a:srgbClr val="0E2440"/>
          </a:solidFill>
          <a:ln w="9525">
            <a:solidFill>
              <a:srgbClr val="2E5A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8862" y="2743200"/>
            <a:ext cx="151049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9CC0FF"/>
                </a:solidFill>
                <a:latin typeface="Arial"/>
              </a:rPr>
              <a:t>МИКРО-ЗАДАЧА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356" y="274320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6EA8FF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39396" y="2743200"/>
            <a:ext cx="2031003" cy="365760"/>
          </a:xfrm>
          <a:prstGeom prst="roundRect">
            <a:avLst>
              <a:gd name="adj" fmla="val 30000"/>
            </a:avLst>
          </a:prstGeom>
          <a:solidFill>
            <a:srgbClr val="0E2440"/>
          </a:solidFill>
          <a:ln w="9525">
            <a:solidFill>
              <a:srgbClr val="2E5A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9396" y="2743200"/>
            <a:ext cx="203100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9CC0FF"/>
                </a:solidFill>
                <a:latin typeface="Arial"/>
              </a:rPr>
              <a:t>РЕАЛЬНЫЙ РЕЗУЛЬТАТ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0399" y="274320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6EA8FF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0439" y="2743200"/>
            <a:ext cx="1373653" cy="365760"/>
          </a:xfrm>
          <a:prstGeom prst="roundRect">
            <a:avLst>
              <a:gd name="adj" fmla="val 30000"/>
            </a:avLst>
          </a:prstGeom>
          <a:solidFill>
            <a:srgbClr val="0E2440"/>
          </a:solidFill>
          <a:ln w="9525">
            <a:solidFill>
              <a:srgbClr val="2E5A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0439" y="2743200"/>
            <a:ext cx="137365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7BE0C3"/>
                </a:solidFill>
                <a:latin typeface="Arial"/>
              </a:rPr>
              <a:t>ПЕРВЫЙ КЕЙС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297680"/>
            <a:ext cx="1828800" cy="1143000"/>
          </a:xfrm>
          <a:prstGeom prst="roundRect">
            <a:avLst>
              <a:gd name="adj" fmla="val 5000"/>
            </a:avLst>
          </a:prstGeom>
          <a:solidFill>
            <a:srgbClr val="0E2440"/>
          </a:solidFill>
          <a:ln w="9525">
            <a:solidFill>
              <a:srgbClr val="23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3816" y="4425696"/>
            <a:ext cx="274320" cy="274320"/>
          </a:xfrm>
          <a:prstGeom prst="ellipse">
            <a:avLst/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44256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754880"/>
            <a:ext cx="16276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1" i="0">
                <a:solidFill>
                  <a:srgbClr val="FFFFFF"/>
                </a:solidFill>
                <a:latin typeface="Arial"/>
              </a:rPr>
              <a:t>СОДЕРЖАТЕЛЬНОСТЬ И ЛОГИКА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5193792"/>
            <a:ext cx="162763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9FB4CC"/>
                </a:solidFill>
                <a:latin typeface="Arial"/>
              </a:rPr>
              <a:t>2 целевые группы →</a:t>
            </a:r>
          </a:p>
          <a:p>
            <a:pPr algn="l"/>
            <a:r>
              <a:rPr sz="650" b="0" i="0">
                <a:solidFill>
                  <a:srgbClr val="9FB4CC"/>
                </a:solidFill>
                <a:latin typeface="Arial"/>
              </a:rPr>
              <a:t>1 рабочий цикл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06040" y="4041648"/>
            <a:ext cx="1828800" cy="1399032"/>
          </a:xfrm>
          <a:prstGeom prst="roundRect">
            <a:avLst>
              <a:gd name="adj" fmla="val 5000"/>
            </a:avLst>
          </a:prstGeom>
          <a:solidFill>
            <a:srgbClr val="0E2440"/>
          </a:solidFill>
          <a:ln w="9525">
            <a:solidFill>
              <a:srgbClr val="23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734056" y="4169663"/>
            <a:ext cx="274320" cy="274320"/>
          </a:xfrm>
          <a:prstGeom prst="ellipse">
            <a:avLst/>
          </a:prstGeom>
          <a:solidFill>
            <a:srgbClr val="10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34056" y="4169663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98848"/>
            <a:ext cx="16276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1" i="0">
                <a:solidFill>
                  <a:srgbClr val="FFFFFF"/>
                </a:solidFill>
                <a:latin typeface="Arial"/>
              </a:rPr>
              <a:t>РЕЗУЛЬТАТИВНОСТЬ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4937760"/>
            <a:ext cx="16276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9FB4CC"/>
                </a:solidFill>
                <a:latin typeface="Arial"/>
              </a:rPr>
              <a:t>64 участника</a:t>
            </a:r>
          </a:p>
          <a:p>
            <a:pPr algn="l"/>
            <a:r>
              <a:rPr sz="650" b="0" i="0">
                <a:solidFill>
                  <a:srgbClr val="9FB4CC"/>
                </a:solidFill>
                <a:latin typeface="Arial"/>
              </a:rPr>
              <a:t>· 12 задач</a:t>
            </a:r>
          </a:p>
          <a:p>
            <a:pPr algn="l"/>
            <a:r>
              <a:rPr sz="650" b="0" i="0">
                <a:solidFill>
                  <a:srgbClr val="9FB4CC"/>
                </a:solidFill>
                <a:latin typeface="Arial"/>
              </a:rPr>
              <a:t>· 3 из 3 учреждений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6280" y="3785615"/>
            <a:ext cx="1828800" cy="1655064"/>
          </a:xfrm>
          <a:prstGeom prst="roundRect">
            <a:avLst>
              <a:gd name="adj" fmla="val 5000"/>
            </a:avLst>
          </a:prstGeom>
          <a:solidFill>
            <a:srgbClr val="0E2440"/>
          </a:solidFill>
          <a:ln w="9525">
            <a:solidFill>
              <a:srgbClr val="23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54296" y="3913631"/>
            <a:ext cx="274320" cy="274320"/>
          </a:xfrm>
          <a:prstGeom prst="ellipse">
            <a:avLst/>
          </a:prstGeom>
          <a:solidFill>
            <a:srgbClr val="18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54296" y="391363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6008" y="4242816"/>
            <a:ext cx="16276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1" i="0">
                <a:solidFill>
                  <a:srgbClr val="FFFFFF"/>
                </a:solidFill>
                <a:latin typeface="Arial"/>
              </a:rPr>
              <a:t>СООТВЕТСТВИЕ ИДЕЕ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36008" y="4681727"/>
            <a:ext cx="1627632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9FB4CC"/>
                </a:solidFill>
                <a:latin typeface="Arial"/>
              </a:rPr>
              <a:t>ядро Дорожной карты</a:t>
            </a:r>
          </a:p>
          <a:p>
            <a:pPr algn="l"/>
            <a:r>
              <a:rPr sz="650" b="0" i="0">
                <a:solidFill>
                  <a:srgbClr val="9FB4CC"/>
                </a:solidFill>
                <a:latin typeface="Arial"/>
              </a:rPr>
              <a:t>сохранено</a:t>
            </a:r>
          </a:p>
          <a:p>
            <a:pPr algn="l"/>
            <a:r>
              <a:rPr sz="650" b="0" i="0">
                <a:solidFill>
                  <a:srgbClr val="9FB4CC"/>
                </a:solidFill>
                <a:latin typeface="Arial"/>
              </a:rPr>
              <a:t>· проект продолжается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3529584"/>
            <a:ext cx="1828800" cy="1911096"/>
          </a:xfrm>
          <a:prstGeom prst="roundRect">
            <a:avLst>
              <a:gd name="adj" fmla="val 5000"/>
            </a:avLst>
          </a:prstGeom>
          <a:solidFill>
            <a:srgbClr val="0E2440"/>
          </a:solidFill>
          <a:ln w="9525">
            <a:solidFill>
              <a:srgbClr val="23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574536" y="3657600"/>
            <a:ext cx="274320" cy="274320"/>
          </a:xfrm>
          <a:prstGeom prst="ellipse">
            <a:avLst/>
          </a:prstGeom>
          <a:solidFill>
            <a:srgbClr val="784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74536" y="36576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6248" y="3986783"/>
            <a:ext cx="16276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1" i="0">
                <a:solidFill>
                  <a:srgbClr val="FFFFFF"/>
                </a:solidFill>
                <a:latin typeface="Arial"/>
              </a:rPr>
              <a:t>НОВИЗНА + ОБОСНОВАННОСТЬ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56248" y="4425696"/>
            <a:ext cx="1627632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9FB4CC"/>
                </a:solidFill>
                <a:latin typeface="Arial"/>
              </a:rPr>
              <a:t>микроформат · экосистема</a:t>
            </a:r>
          </a:p>
          <a:p>
            <a:pPr algn="l"/>
            <a:r>
              <a:rPr sz="650" b="0" i="0">
                <a:solidFill>
                  <a:srgbClr val="9FB4CC"/>
                </a:solidFill>
                <a:latin typeface="Arial"/>
              </a:rPr>
              <a:t>· кооперация</a:t>
            </a:r>
          </a:p>
          <a:p>
            <a:pPr algn="l"/>
            <a:r>
              <a:rPr sz="650" b="0" i="0">
                <a:solidFill>
                  <a:srgbClr val="9FB4CC"/>
                </a:solidFill>
                <a:latin typeface="Arial"/>
              </a:rPr>
              <a:t>· федеральные данные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66760" y="3273552"/>
            <a:ext cx="1828800" cy="2167128"/>
          </a:xfrm>
          <a:prstGeom prst="roundRect">
            <a:avLst>
              <a:gd name="adj" fmla="val 5000"/>
            </a:avLst>
          </a:prstGeom>
          <a:solidFill>
            <a:srgbClr val="0E2440"/>
          </a:solidFill>
          <a:ln w="9525">
            <a:solidFill>
              <a:srgbClr val="23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94776" y="3401568"/>
            <a:ext cx="274320" cy="274320"/>
          </a:xfrm>
          <a:prstGeom prst="ellipse">
            <a:avLst/>
          </a:prstGeom>
          <a:solidFill>
            <a:srgbClr val="E78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94776" y="34015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6488" y="3730752"/>
            <a:ext cx="16276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1" i="0">
                <a:solidFill>
                  <a:srgbClr val="FFFFFF"/>
                </a:solidFill>
                <a:latin typeface="Arial"/>
              </a:rPr>
              <a:t>ЛИЧНЫЙ ВКЛАД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6488" y="4169664"/>
            <a:ext cx="1627632" cy="1271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9FB4CC"/>
                </a:solidFill>
                <a:latin typeface="Arial"/>
              </a:rPr>
              <a:t>продукт · разработка</a:t>
            </a:r>
          </a:p>
          <a:p>
            <a:pPr algn="l"/>
            <a:r>
              <a:rPr sz="650" b="0" i="0">
                <a:solidFill>
                  <a:srgbClr val="9FB4CC"/>
                </a:solidFill>
                <a:latin typeface="Arial"/>
              </a:rPr>
              <a:t>· заказчики</a:t>
            </a:r>
          </a:p>
          <a:p>
            <a:pPr algn="l"/>
            <a:r>
              <a:rPr sz="650" b="0" i="0">
                <a:solidFill>
                  <a:srgbClr val="9FB4CC"/>
                </a:solidFill>
                <a:latin typeface="Arial"/>
              </a:rPr>
              <a:t>· исследование · команда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49640" y="5577840"/>
            <a:ext cx="9144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qr_por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4" y="5632704"/>
            <a:ext cx="804672" cy="80467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412480" y="6510528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1" i="0">
                <a:solidFill>
                  <a:srgbClr val="8FA3BC"/>
                </a:solidFill>
                <a:latin typeface="Arial"/>
              </a:rPr>
              <a:t>ПОРТАЛ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75520" y="5577840"/>
            <a:ext cx="9144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qr_por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384" y="5632704"/>
            <a:ext cx="804672" cy="80467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646920" y="651052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1" i="0">
                <a:solidFill>
                  <a:srgbClr val="8FA3BC"/>
                </a:solidFill>
                <a:latin typeface="Arial"/>
              </a:rPr>
              <a:t>ДОКАЗАТЕЛЬНАЯ БАЗА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5989320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989320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" y="5998464"/>
            <a:ext cx="56072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FA3BC"/>
                </a:solidFill>
                <a:latin typeface="Arial"/>
              </a:rPr>
              <a:t>НЕЙМАРК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685437" y="5989320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E78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ight Triangle 53"/>
          <p:cNvSpPr/>
          <p:nvPr/>
        </p:nvSpPr>
        <p:spPr>
          <a:xfrm>
            <a:off x="1731157" y="6035040"/>
            <a:ext cx="128016" cy="118872"/>
          </a:xfrm>
          <a:prstGeom prst="rt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59757" y="5998464"/>
            <a:ext cx="3232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FA3BC"/>
                </a:solidFill>
                <a:latin typeface="Arial"/>
              </a:rPr>
              <a:t>ВШЭ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447604" y="5989320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28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2493324" y="6044184"/>
            <a:ext cx="128016" cy="109728"/>
          </a:xfrm>
          <a:prstGeom prst="triangle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21924" y="5998464"/>
            <a:ext cx="5673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FA3BC"/>
                </a:solidFill>
                <a:latin typeface="Arial"/>
              </a:rPr>
              <a:t>«Высота»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53838" y="5989320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784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53838" y="5989320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ТХ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28158" y="5998464"/>
            <a:ext cx="111199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FA3BC"/>
                </a:solidFill>
                <a:latin typeface="Arial"/>
              </a:rPr>
              <a:t>команда «Твой Ход»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04744" y="5989320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5269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04744" y="5989320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УК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79064" y="5998464"/>
            <a:ext cx="120999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FA3BC"/>
                </a:solidFill>
                <a:latin typeface="Arial"/>
              </a:rPr>
              <a:t>учреждения культуры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63550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5E82AC"/>
                </a:solidFill>
                <a:latin typeface="Arial"/>
              </a:rPr>
              <a:t>команда проекта: Иван Ершов (лидер) · Михаил Шевченко (системный администратор)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0996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8FA3BC"/>
                </a:solidFill>
                <a:latin typeface="Arial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